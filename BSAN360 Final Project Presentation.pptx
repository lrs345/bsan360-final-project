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1" r:id="rId1"/>
  </p:sldMasterIdLst>
  <p:sldIdLst>
    <p:sldId id="256" r:id="rId2"/>
    <p:sldId id="257" r:id="rId3"/>
    <p:sldId id="258" r:id="rId4"/>
    <p:sldId id="261" r:id="rId5"/>
    <p:sldId id="259" r:id="rId6"/>
    <p:sldId id="260" r:id="rId7"/>
    <p:sldId id="262" r:id="rId8"/>
    <p:sldId id="263" r:id="rId9"/>
    <p:sldId id="268"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4AE9"/>
    <a:srgbClr val="8F3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135B8-72F5-CB4C-A46D-DC9BB093A96B}" v="1" dt="2026-03-17T16:42:20.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712"/>
  </p:normalViewPr>
  <p:slideViewPr>
    <p:cSldViewPr snapToGrid="0">
      <p:cViewPr varScale="1">
        <p:scale>
          <a:sx n="100" d="100"/>
          <a:sy n="100"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2245E6-D713-4A5D-B8CA-AC0A17E98FB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8F4882B-0826-4653-A6B8-92190D312ABD}">
      <dgm:prSet/>
      <dgm:spPr/>
      <dgm:t>
        <a:bodyPr/>
        <a:lstStyle/>
        <a:p>
          <a:r>
            <a:rPr lang="en-US"/>
            <a:t>Higher BB percentages seemed to lead to higher ERAs</a:t>
          </a:r>
        </a:p>
      </dgm:t>
    </dgm:pt>
    <dgm:pt modelId="{5D6C295A-6347-4BC9-9AF4-DC2A01EB9B0E}" type="parTrans" cxnId="{0EC22F12-2FB5-4005-AC6F-8324650F6E59}">
      <dgm:prSet/>
      <dgm:spPr/>
      <dgm:t>
        <a:bodyPr/>
        <a:lstStyle/>
        <a:p>
          <a:endParaRPr lang="en-US"/>
        </a:p>
      </dgm:t>
    </dgm:pt>
    <dgm:pt modelId="{5EE3E9A1-F713-4216-B20B-DEE6F4C07EE4}" type="sibTrans" cxnId="{0EC22F12-2FB5-4005-AC6F-8324650F6E59}">
      <dgm:prSet/>
      <dgm:spPr/>
      <dgm:t>
        <a:bodyPr/>
        <a:lstStyle/>
        <a:p>
          <a:endParaRPr lang="en-US"/>
        </a:p>
      </dgm:t>
    </dgm:pt>
    <dgm:pt modelId="{8119DB54-0380-4539-870E-033B697A6AAC}">
      <dgm:prSet/>
      <dgm:spPr/>
      <dgm:t>
        <a:bodyPr/>
        <a:lstStyle/>
        <a:p>
          <a:r>
            <a:rPr lang="en-US"/>
            <a:t>Higher K percentages seemed to lead to lower ERAs</a:t>
          </a:r>
        </a:p>
      </dgm:t>
    </dgm:pt>
    <dgm:pt modelId="{B17E65D0-3C68-4A0D-B896-36189FD71A19}" type="parTrans" cxnId="{EE84BA38-ABC0-4EEB-9E7F-9FECD602CA8C}">
      <dgm:prSet/>
      <dgm:spPr/>
      <dgm:t>
        <a:bodyPr/>
        <a:lstStyle/>
        <a:p>
          <a:endParaRPr lang="en-US"/>
        </a:p>
      </dgm:t>
    </dgm:pt>
    <dgm:pt modelId="{79315BA0-545D-4F39-A446-34BE3DB4FD2C}" type="sibTrans" cxnId="{EE84BA38-ABC0-4EEB-9E7F-9FECD602CA8C}">
      <dgm:prSet/>
      <dgm:spPr/>
      <dgm:t>
        <a:bodyPr/>
        <a:lstStyle/>
        <a:p>
          <a:endParaRPr lang="en-US"/>
        </a:p>
      </dgm:t>
    </dgm:pt>
    <dgm:pt modelId="{25A2FA23-4F76-6D4B-B263-83345D88A056}" type="pres">
      <dgm:prSet presAssocID="{502245E6-D713-4A5D-B8CA-AC0A17E98FB6}" presName="linear" presStyleCnt="0">
        <dgm:presLayoutVars>
          <dgm:animLvl val="lvl"/>
          <dgm:resizeHandles val="exact"/>
        </dgm:presLayoutVars>
      </dgm:prSet>
      <dgm:spPr/>
    </dgm:pt>
    <dgm:pt modelId="{BBFC3194-AC3C-7942-B11B-F623C6710BE4}" type="pres">
      <dgm:prSet presAssocID="{08F4882B-0826-4653-A6B8-92190D312ABD}" presName="parentText" presStyleLbl="node1" presStyleIdx="0" presStyleCnt="2">
        <dgm:presLayoutVars>
          <dgm:chMax val="0"/>
          <dgm:bulletEnabled val="1"/>
        </dgm:presLayoutVars>
      </dgm:prSet>
      <dgm:spPr/>
    </dgm:pt>
    <dgm:pt modelId="{A8A3EF9F-A67B-0D42-9F49-1F96487465B1}" type="pres">
      <dgm:prSet presAssocID="{5EE3E9A1-F713-4216-B20B-DEE6F4C07EE4}" presName="spacer" presStyleCnt="0"/>
      <dgm:spPr/>
    </dgm:pt>
    <dgm:pt modelId="{782B5AEE-1E54-2B42-8C41-FFFB4933A1FD}" type="pres">
      <dgm:prSet presAssocID="{8119DB54-0380-4539-870E-033B697A6AAC}" presName="parentText" presStyleLbl="node1" presStyleIdx="1" presStyleCnt="2">
        <dgm:presLayoutVars>
          <dgm:chMax val="0"/>
          <dgm:bulletEnabled val="1"/>
        </dgm:presLayoutVars>
      </dgm:prSet>
      <dgm:spPr/>
    </dgm:pt>
  </dgm:ptLst>
  <dgm:cxnLst>
    <dgm:cxn modelId="{0EC22F12-2FB5-4005-AC6F-8324650F6E59}" srcId="{502245E6-D713-4A5D-B8CA-AC0A17E98FB6}" destId="{08F4882B-0826-4653-A6B8-92190D312ABD}" srcOrd="0" destOrd="0" parTransId="{5D6C295A-6347-4BC9-9AF4-DC2A01EB9B0E}" sibTransId="{5EE3E9A1-F713-4216-B20B-DEE6F4C07EE4}"/>
    <dgm:cxn modelId="{EE84BA38-ABC0-4EEB-9E7F-9FECD602CA8C}" srcId="{502245E6-D713-4A5D-B8CA-AC0A17E98FB6}" destId="{8119DB54-0380-4539-870E-033B697A6AAC}" srcOrd="1" destOrd="0" parTransId="{B17E65D0-3C68-4A0D-B896-36189FD71A19}" sibTransId="{79315BA0-545D-4F39-A446-34BE3DB4FD2C}"/>
    <dgm:cxn modelId="{FD02DD39-5537-2344-A14B-B719B8D0A302}" type="presOf" srcId="{502245E6-D713-4A5D-B8CA-AC0A17E98FB6}" destId="{25A2FA23-4F76-6D4B-B263-83345D88A056}" srcOrd="0" destOrd="0" presId="urn:microsoft.com/office/officeart/2005/8/layout/vList2"/>
    <dgm:cxn modelId="{3504A74D-7B2C-BD49-A6EA-BB8C5647AC4C}" type="presOf" srcId="{08F4882B-0826-4653-A6B8-92190D312ABD}" destId="{BBFC3194-AC3C-7942-B11B-F623C6710BE4}" srcOrd="0" destOrd="0" presId="urn:microsoft.com/office/officeart/2005/8/layout/vList2"/>
    <dgm:cxn modelId="{86BE3DC4-E30E-BF43-A83E-E2C93E209DC8}" type="presOf" srcId="{8119DB54-0380-4539-870E-033B697A6AAC}" destId="{782B5AEE-1E54-2B42-8C41-FFFB4933A1FD}" srcOrd="0" destOrd="0" presId="urn:microsoft.com/office/officeart/2005/8/layout/vList2"/>
    <dgm:cxn modelId="{5C5CF570-56DF-414C-85F9-D97896EBF5D2}" type="presParOf" srcId="{25A2FA23-4F76-6D4B-B263-83345D88A056}" destId="{BBFC3194-AC3C-7942-B11B-F623C6710BE4}" srcOrd="0" destOrd="0" presId="urn:microsoft.com/office/officeart/2005/8/layout/vList2"/>
    <dgm:cxn modelId="{C010E81A-6A47-634C-A501-8A718F1C71CA}" type="presParOf" srcId="{25A2FA23-4F76-6D4B-B263-83345D88A056}" destId="{A8A3EF9F-A67B-0D42-9F49-1F96487465B1}" srcOrd="1" destOrd="0" presId="urn:microsoft.com/office/officeart/2005/8/layout/vList2"/>
    <dgm:cxn modelId="{E9A54C01-A28B-794A-A903-318160867425}" type="presParOf" srcId="{25A2FA23-4F76-6D4B-B263-83345D88A056}" destId="{782B5AEE-1E54-2B42-8C41-FFFB4933A1F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C3194-AC3C-7942-B11B-F623C6710BE4}">
      <dsp:nvSpPr>
        <dsp:cNvPr id="0" name=""/>
        <dsp:cNvSpPr/>
      </dsp:nvSpPr>
      <dsp:spPr>
        <a:xfrm>
          <a:off x="0" y="47236"/>
          <a:ext cx="5549732" cy="184274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Higher BB percentages seemed to lead to higher ERAs</a:t>
          </a:r>
        </a:p>
      </dsp:txBody>
      <dsp:txXfrm>
        <a:off x="89956" y="137192"/>
        <a:ext cx="5369820" cy="1662837"/>
      </dsp:txXfrm>
    </dsp:sp>
    <dsp:sp modelId="{782B5AEE-1E54-2B42-8C41-FFFB4933A1FD}">
      <dsp:nvSpPr>
        <dsp:cNvPr id="0" name=""/>
        <dsp:cNvSpPr/>
      </dsp:nvSpPr>
      <dsp:spPr>
        <a:xfrm>
          <a:off x="0" y="1990786"/>
          <a:ext cx="5549732" cy="184274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Higher K percentages seemed to lead to lower ERAs</a:t>
          </a:r>
        </a:p>
      </dsp:txBody>
      <dsp:txXfrm>
        <a:off x="89956" y="2080742"/>
        <a:ext cx="5369820" cy="16628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lgn="l"/>
            <a:fld id="{A5B0A250-5CC0-1746-B209-08E8B0DAE6AF}" type="datetimeFigureOut">
              <a:rPr lang="en-US" smtClean="0"/>
              <a:pPr algn="l"/>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355314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834642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2871760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19105027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48386871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B0A250-5CC0-1746-B209-08E8B0DAE6AF}" type="datetimeFigureOut">
              <a:rPr lang="en-US" smtClean="0"/>
              <a:t>3/17/26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583733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998592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2096363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3/17/26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312030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261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90636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784129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4850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278523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599509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pPr/>
              <a:t>3/17/26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386610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5B0A250-5CC0-1746-B209-08E8B0DAE6AF}" type="datetimeFigureOut">
              <a:rPr lang="en-US" smtClean="0"/>
              <a:pPr/>
              <a:t>3/17/26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445306005"/>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lrs345/BSAN360-Final-Project/tree/ma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baseballsavant.mlb.com/leaderboard/custom?year=2025&amp;type=pitcher&amp;filter=&amp;min=1&amp;selections=p_game%2Cp_formatted_ip%2Cpa%2Cab%2Chit%2Cstrikeout%2Cwalk%2Ck_percent%2Cbb_percent%2Cbatting_avg%2Cslg_percent%2Con_base_percent%2Con_base_plus_slg%2Cp_era%2Cp_quality_start%2Cp_ball%2Cp_called_strike%2Cp_gnd_into_dp%2Cp_swinging_strike%2Cp_total_strike%2Cp_total_swinging_strike%2Cexit_velocity_avg%2Claunch_angle_avg%2Csweet_spot_percent%2Cbarrel%2Cbarrel_batted_rate%2Csolidcontact_percent%2Chard_hit_percent%2Cz_swing_percent%2Cz_swing_miss_percent%2Coz_swing_percent%2Coz_swing_miss_percent%2Coz_contact_percent%2Cout_zone_swing_miss%2Cout_zone_swing%2Cout_zone_percent%2Cout_zone%2Cpitch_count_offspeed%2Cpitch_count_fastball%2Cpitch_count_breaking%2Cpitch_count%2Ciz_contact_percent%2Cin_zone_swing_miss%2Cin_zone_swing%2Cin_zone_percent%2Cin_zone%2Cedge_percent%2Cedge%2Cwhiff_percent%2Cswing_percent&amp;chart=false&amp;x=p_game&amp;y=p_game&amp;r=no&amp;chartType=beeswarm&amp;sort=xwoba&amp;sortDir=asc"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95E9-A271-DCF6-5948-CFF7EF72AD44}"/>
              </a:ext>
            </a:extLst>
          </p:cNvPr>
          <p:cNvSpPr>
            <a:spLocks noGrp="1"/>
          </p:cNvSpPr>
          <p:nvPr>
            <p:ph type="ctrTitle"/>
          </p:nvPr>
        </p:nvSpPr>
        <p:spPr>
          <a:xfrm>
            <a:off x="1507067" y="1397000"/>
            <a:ext cx="7766936" cy="2653836"/>
          </a:xfrm>
        </p:spPr>
        <p:txBody>
          <a:bodyPr>
            <a:normAutofit/>
          </a:bodyPr>
          <a:lstStyle/>
          <a:p>
            <a:pPr algn="l"/>
            <a:r>
              <a:rPr lang="en-US" dirty="0"/>
              <a:t>2025 MLB Pitch Usage Vs. Success</a:t>
            </a:r>
            <a:br>
              <a:rPr lang="en-US" dirty="0"/>
            </a:br>
            <a:endParaRPr lang="en-US" dirty="0"/>
          </a:p>
        </p:txBody>
      </p:sp>
      <p:sp>
        <p:nvSpPr>
          <p:cNvPr id="3" name="Subtitle 2">
            <a:extLst>
              <a:ext uri="{FF2B5EF4-FFF2-40B4-BE49-F238E27FC236}">
                <a16:creationId xmlns:a16="http://schemas.microsoft.com/office/drawing/2014/main" id="{53151AAB-3C57-9253-2283-B9AD8D238EFB}"/>
              </a:ext>
            </a:extLst>
          </p:cNvPr>
          <p:cNvSpPr>
            <a:spLocks noGrp="1"/>
          </p:cNvSpPr>
          <p:nvPr>
            <p:ph type="subTitle" idx="1"/>
          </p:nvPr>
        </p:nvSpPr>
        <p:spPr/>
        <p:txBody>
          <a:bodyPr>
            <a:noAutofit/>
          </a:bodyPr>
          <a:lstStyle/>
          <a:p>
            <a:pPr algn="l">
              <a:lnSpc>
                <a:spcPct val="90000"/>
              </a:lnSpc>
            </a:pPr>
            <a:r>
              <a:rPr lang="en-US" sz="2400" dirty="0"/>
              <a:t>Luke Schrader</a:t>
            </a:r>
          </a:p>
          <a:p>
            <a:pPr algn="l">
              <a:lnSpc>
                <a:spcPct val="90000"/>
              </a:lnSpc>
            </a:pPr>
            <a:r>
              <a:rPr lang="en-US" sz="2400" dirty="0"/>
              <a:t>BSAN-360-001</a:t>
            </a:r>
          </a:p>
          <a:p>
            <a:pPr algn="l">
              <a:lnSpc>
                <a:spcPct val="90000"/>
              </a:lnSpc>
            </a:pPr>
            <a:r>
              <a:rPr lang="en-US" sz="2400" dirty="0"/>
              <a:t>3/20/26</a:t>
            </a:r>
          </a:p>
          <a:p>
            <a:pPr algn="l">
              <a:lnSpc>
                <a:spcPct val="90000"/>
              </a:lnSpc>
            </a:pPr>
            <a:r>
              <a:rPr lang="en-US" sz="2400" dirty="0">
                <a:hlinkClick r:id="rId2">
                  <a:extLst>
                    <a:ext uri="{A12FA001-AC4F-418D-AE19-62706E023703}">
                      <ahyp:hlinkClr xmlns:ahyp="http://schemas.microsoft.com/office/drawing/2018/hyperlinkcolor" val="tx"/>
                    </a:ext>
                  </a:extLst>
                </a:hlinkClick>
              </a:rPr>
              <a:t>https://github.com/lrs345/BSAN360-Final-Project/tree/main</a:t>
            </a:r>
            <a:endParaRPr lang="en-US" sz="2400" dirty="0"/>
          </a:p>
        </p:txBody>
      </p:sp>
    </p:spTree>
    <p:extLst>
      <p:ext uri="{BB962C8B-B14F-4D97-AF65-F5344CB8AC3E}">
        <p14:creationId xmlns:p14="http://schemas.microsoft.com/office/powerpoint/2010/main" val="2961803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6F9FA-7193-C23E-A3A9-6263131898E0}"/>
              </a:ext>
            </a:extLst>
          </p:cNvPr>
          <p:cNvSpPr>
            <a:spLocks noGrp="1"/>
          </p:cNvSpPr>
          <p:nvPr>
            <p:ph type="title"/>
          </p:nvPr>
        </p:nvSpPr>
        <p:spPr>
          <a:xfrm>
            <a:off x="1333502" y="609600"/>
            <a:ext cx="8596668" cy="1320800"/>
          </a:xfrm>
        </p:spPr>
        <p:txBody>
          <a:bodyPr>
            <a:normAutofit/>
          </a:bodyPr>
          <a:lstStyle/>
          <a:p>
            <a:r>
              <a:rPr lang="en-US"/>
              <a:t>Data Source</a:t>
            </a:r>
          </a:p>
        </p:txBody>
      </p:sp>
      <p:sp>
        <p:nvSpPr>
          <p:cNvPr id="22"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BB6E530-4C12-DC12-83B2-318D59B58C31}"/>
              </a:ext>
            </a:extLst>
          </p:cNvPr>
          <p:cNvSpPr>
            <a:spLocks noGrp="1"/>
          </p:cNvSpPr>
          <p:nvPr>
            <p:ph idx="1"/>
          </p:nvPr>
        </p:nvSpPr>
        <p:spPr>
          <a:xfrm>
            <a:off x="1333502" y="2160589"/>
            <a:ext cx="8596668" cy="3880773"/>
          </a:xfrm>
        </p:spPr>
        <p:txBody>
          <a:bodyPr>
            <a:normAutofit/>
          </a:bodyPr>
          <a:lstStyle/>
          <a:p>
            <a:r>
              <a:rPr lang="en-US" dirty="0"/>
              <a:t>Original Data Sourced from Baseball Savant:</a:t>
            </a:r>
          </a:p>
          <a:p>
            <a:r>
              <a:rPr lang="en-US" dirty="0">
                <a:hlinkClick r:id="rId2">
                  <a:extLst>
                    <a:ext uri="{A12FA001-AC4F-418D-AE19-62706E023703}">
                      <ahyp:hlinkClr xmlns:ahyp="http://schemas.microsoft.com/office/drawing/2018/hyperlinkcolor" val="tx"/>
                    </a:ext>
                  </a:extLst>
                </a:hlinkClick>
              </a:rPr>
              <a:t>https://baseballsavant.mlb.com/leaderboard/custom?year=2025&amp;type=pitcher&amp;filter=&amp;min=1&amp;selections=p_game%2Cp_formatted_ip%2Cpa%2Cab%2Chit%2Cstrikeout%2Cwalk%2Ck_percent%2Cbb_percent%2Cbatting_avg%2Cslg_percent%2Con_base_percent%2Con_base_plus_slg%2Cp_era%</a:t>
            </a:r>
            <a:endParaRPr lang="en-US" dirty="0"/>
          </a:p>
          <a:p>
            <a:pPr marL="6160" indent="0">
              <a:buNone/>
            </a:pPr>
            <a:endParaRPr lang="en-US" dirty="0"/>
          </a:p>
        </p:txBody>
      </p:sp>
      <p:sp>
        <p:nvSpPr>
          <p:cNvPr id="23"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69536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1D92-97F9-E14B-5AE2-40C53F6C7FC3}"/>
              </a:ext>
            </a:extLst>
          </p:cNvPr>
          <p:cNvSpPr>
            <a:spLocks noGrp="1"/>
          </p:cNvSpPr>
          <p:nvPr>
            <p:ph type="title"/>
          </p:nvPr>
        </p:nvSpPr>
        <p:spPr/>
        <p:txBody>
          <a:bodyPr/>
          <a:lstStyle/>
          <a:p>
            <a:r>
              <a:rPr lang="en-US" dirty="0"/>
              <a:t>Description of Original Data</a:t>
            </a:r>
          </a:p>
        </p:txBody>
      </p:sp>
      <p:sp>
        <p:nvSpPr>
          <p:cNvPr id="3" name="Content Placeholder 2">
            <a:extLst>
              <a:ext uri="{FF2B5EF4-FFF2-40B4-BE49-F238E27FC236}">
                <a16:creationId xmlns:a16="http://schemas.microsoft.com/office/drawing/2014/main" id="{9FD07E63-2791-2A10-4254-30B6351D38ED}"/>
              </a:ext>
            </a:extLst>
          </p:cNvPr>
          <p:cNvSpPr>
            <a:spLocks noGrp="1"/>
          </p:cNvSpPr>
          <p:nvPr>
            <p:ph idx="1"/>
          </p:nvPr>
        </p:nvSpPr>
        <p:spPr/>
        <p:txBody>
          <a:bodyPr>
            <a:normAutofit/>
          </a:bodyPr>
          <a:lstStyle/>
          <a:p>
            <a:r>
              <a:rPr lang="en-US" sz="2400" dirty="0"/>
              <a:t>Provides pitcher statistics from 2025 MLB Regular Season</a:t>
            </a:r>
          </a:p>
          <a:p>
            <a:r>
              <a:rPr lang="en-US" sz="2400" dirty="0"/>
              <a:t>809 Pitchers Included in Data</a:t>
            </a:r>
          </a:p>
          <a:p>
            <a:r>
              <a:rPr lang="en-US" sz="2400" dirty="0"/>
              <a:t>53 columns of information:</a:t>
            </a:r>
          </a:p>
          <a:p>
            <a:pPr lvl="1"/>
            <a:r>
              <a:rPr lang="en-US" sz="2200" dirty="0"/>
              <a:t>Includes statistics such as Innings Pitched, ERA, Hits Allowed, Average Exit Velocity Allowed, Strikeouts, Walks, etc.</a:t>
            </a:r>
          </a:p>
          <a:p>
            <a:pPr lvl="1"/>
            <a:r>
              <a:rPr lang="en-US" sz="2200" dirty="0"/>
              <a:t>Provides total pitch count for the season, as well as a breakdown of how many of those pitches were fastballs, offspeed pitches, and breaking pitches.</a:t>
            </a:r>
          </a:p>
        </p:txBody>
      </p:sp>
    </p:spTree>
    <p:extLst>
      <p:ext uri="{BB962C8B-B14F-4D97-AF65-F5344CB8AC3E}">
        <p14:creationId xmlns:p14="http://schemas.microsoft.com/office/powerpoint/2010/main" val="3906253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964B8F-39A3-F321-3EEC-B59337133011}"/>
              </a:ext>
            </a:extLst>
          </p:cNvPr>
          <p:cNvPicPr>
            <a:picLocks noChangeAspect="1"/>
          </p:cNvPicPr>
          <p:nvPr/>
        </p:nvPicPr>
        <p:blipFill>
          <a:blip r:embed="rId2"/>
          <a:stretch>
            <a:fillRect/>
          </a:stretch>
        </p:blipFill>
        <p:spPr>
          <a:xfrm>
            <a:off x="4316612" y="946537"/>
            <a:ext cx="3968044" cy="2827231"/>
          </a:xfrm>
          <a:prstGeom prst="rect">
            <a:avLst/>
          </a:prstGeom>
        </p:spPr>
      </p:pic>
      <p:pic>
        <p:nvPicPr>
          <p:cNvPr id="8" name="Picture 7">
            <a:extLst>
              <a:ext uri="{FF2B5EF4-FFF2-40B4-BE49-F238E27FC236}">
                <a16:creationId xmlns:a16="http://schemas.microsoft.com/office/drawing/2014/main" id="{14E1E5A7-7B0A-CCB1-0DAE-BD3358423B9D}"/>
              </a:ext>
            </a:extLst>
          </p:cNvPr>
          <p:cNvPicPr>
            <a:picLocks noChangeAspect="1"/>
          </p:cNvPicPr>
          <p:nvPr/>
        </p:nvPicPr>
        <p:blipFill>
          <a:blip r:embed="rId3"/>
          <a:stretch>
            <a:fillRect/>
          </a:stretch>
        </p:blipFill>
        <p:spPr>
          <a:xfrm>
            <a:off x="8502947" y="946537"/>
            <a:ext cx="3420987" cy="3499732"/>
          </a:xfrm>
          <a:prstGeom prst="rect">
            <a:avLst/>
          </a:prstGeom>
        </p:spPr>
      </p:pic>
      <p:pic>
        <p:nvPicPr>
          <p:cNvPr id="6" name="Picture 5">
            <a:extLst>
              <a:ext uri="{FF2B5EF4-FFF2-40B4-BE49-F238E27FC236}">
                <a16:creationId xmlns:a16="http://schemas.microsoft.com/office/drawing/2014/main" id="{DF5860F7-252D-06E3-14AD-58DDBF452541}"/>
              </a:ext>
            </a:extLst>
          </p:cNvPr>
          <p:cNvPicPr>
            <a:picLocks noChangeAspect="1"/>
          </p:cNvPicPr>
          <p:nvPr/>
        </p:nvPicPr>
        <p:blipFill>
          <a:blip r:embed="rId4"/>
          <a:stretch>
            <a:fillRect/>
          </a:stretch>
        </p:blipFill>
        <p:spPr>
          <a:xfrm>
            <a:off x="677334" y="946537"/>
            <a:ext cx="3639278" cy="3175269"/>
          </a:xfrm>
          <a:prstGeom prst="rect">
            <a:avLst/>
          </a:prstGeom>
        </p:spPr>
      </p:pic>
      <p:sp>
        <p:nvSpPr>
          <p:cNvPr id="2" name="Title 1">
            <a:extLst>
              <a:ext uri="{FF2B5EF4-FFF2-40B4-BE49-F238E27FC236}">
                <a16:creationId xmlns:a16="http://schemas.microsoft.com/office/drawing/2014/main" id="{B46F7DC7-C05B-7810-2A2A-9F742CF95EEA}"/>
              </a:ext>
            </a:extLst>
          </p:cNvPr>
          <p:cNvSpPr>
            <a:spLocks noGrp="1"/>
          </p:cNvSpPr>
          <p:nvPr>
            <p:ph type="title"/>
          </p:nvPr>
        </p:nvSpPr>
        <p:spPr>
          <a:xfrm>
            <a:off x="677334" y="4811501"/>
            <a:ext cx="4441743" cy="1563899"/>
          </a:xfrm>
        </p:spPr>
        <p:txBody>
          <a:bodyPr anchor="ctr">
            <a:normAutofit/>
          </a:bodyPr>
          <a:lstStyle/>
          <a:p>
            <a:r>
              <a:rPr lang="en-US"/>
              <a:t>Breakdown of Classifications</a:t>
            </a:r>
          </a:p>
        </p:txBody>
      </p:sp>
      <p:sp>
        <p:nvSpPr>
          <p:cNvPr id="3" name="Content Placeholder 2">
            <a:extLst>
              <a:ext uri="{FF2B5EF4-FFF2-40B4-BE49-F238E27FC236}">
                <a16:creationId xmlns:a16="http://schemas.microsoft.com/office/drawing/2014/main" id="{E1314541-BBB7-D089-C2CE-98B6FBFB7A9A}"/>
              </a:ext>
            </a:extLst>
          </p:cNvPr>
          <p:cNvSpPr>
            <a:spLocks noGrp="1"/>
          </p:cNvSpPr>
          <p:nvPr>
            <p:ph idx="1"/>
          </p:nvPr>
        </p:nvSpPr>
        <p:spPr>
          <a:xfrm>
            <a:off x="5268685" y="4814595"/>
            <a:ext cx="4531807" cy="1563899"/>
          </a:xfrm>
        </p:spPr>
        <p:txBody>
          <a:bodyPr anchor="ctr">
            <a:normAutofit/>
          </a:bodyPr>
          <a:lstStyle/>
          <a:p>
            <a:pPr>
              <a:lnSpc>
                <a:spcPct val="90000"/>
              </a:lnSpc>
              <a:buClr>
                <a:schemeClr val="tx1"/>
              </a:buClr>
            </a:pPr>
            <a:r>
              <a:rPr lang="en-US" sz="1400" dirty="0">
                <a:solidFill>
                  <a:schemeClr val="tx1"/>
                </a:solidFill>
              </a:rPr>
              <a:t>Primary Pitch: Pitch used 50% or more of the time</a:t>
            </a:r>
          </a:p>
          <a:p>
            <a:pPr>
              <a:lnSpc>
                <a:spcPct val="90000"/>
              </a:lnSpc>
              <a:buClr>
                <a:schemeClr val="tx1"/>
              </a:buClr>
            </a:pPr>
            <a:r>
              <a:rPr lang="en-US" sz="1400" dirty="0">
                <a:solidFill>
                  <a:schemeClr val="tx1"/>
                </a:solidFill>
              </a:rPr>
              <a:t>Moderate Use: Pitch used between 25% and 50% of the time</a:t>
            </a:r>
          </a:p>
          <a:p>
            <a:pPr>
              <a:lnSpc>
                <a:spcPct val="90000"/>
              </a:lnSpc>
              <a:buClr>
                <a:schemeClr val="tx1"/>
              </a:buClr>
            </a:pPr>
            <a:r>
              <a:rPr lang="en-US" sz="1400" dirty="0">
                <a:solidFill>
                  <a:schemeClr val="tx1"/>
                </a:solidFill>
              </a:rPr>
              <a:t>Minimal Use: Pitch used up to 25% of the time</a:t>
            </a:r>
          </a:p>
          <a:p>
            <a:pPr>
              <a:lnSpc>
                <a:spcPct val="90000"/>
              </a:lnSpc>
              <a:buClr>
                <a:schemeClr val="tx1"/>
              </a:buClr>
            </a:pPr>
            <a:r>
              <a:rPr lang="en-US" sz="1400" dirty="0">
                <a:solidFill>
                  <a:schemeClr val="tx1"/>
                </a:solidFill>
              </a:rPr>
              <a:t>No Use: Pitch is not used by pitcher</a:t>
            </a:r>
          </a:p>
        </p:txBody>
      </p:sp>
    </p:spTree>
    <p:extLst>
      <p:ext uri="{BB962C8B-B14F-4D97-AF65-F5344CB8AC3E}">
        <p14:creationId xmlns:p14="http://schemas.microsoft.com/office/powerpoint/2010/main" val="636187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FA6-AB8A-2CD4-66F7-CCBE7AFC6BDE}"/>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2F86F704-E1CD-4ABA-6796-E9A46F7A4A6F}"/>
              </a:ext>
            </a:extLst>
          </p:cNvPr>
          <p:cNvSpPr>
            <a:spLocks noGrp="1"/>
          </p:cNvSpPr>
          <p:nvPr>
            <p:ph idx="1"/>
          </p:nvPr>
        </p:nvSpPr>
        <p:spPr/>
        <p:txBody>
          <a:bodyPr>
            <a:normAutofit/>
          </a:bodyPr>
          <a:lstStyle/>
          <a:p>
            <a:r>
              <a:rPr lang="en-US" sz="2400" dirty="0"/>
              <a:t>Research Question #1: How did pitch mixes affect pitcher success on average in 2025?</a:t>
            </a:r>
          </a:p>
          <a:p>
            <a:r>
              <a:rPr lang="en-US" sz="2400" dirty="0"/>
              <a:t>Research Question #2: Which pitch mixes create the highest strikeout and walk outputs?</a:t>
            </a:r>
          </a:p>
          <a:p>
            <a:r>
              <a:rPr lang="en-US" sz="2400" dirty="0"/>
              <a:t>Research Question #3: How much of an effect do strikeouts and walks have on a pitcher’s overall success?</a:t>
            </a:r>
          </a:p>
        </p:txBody>
      </p:sp>
    </p:spTree>
    <p:extLst>
      <p:ext uri="{BB962C8B-B14F-4D97-AF65-F5344CB8AC3E}">
        <p14:creationId xmlns:p14="http://schemas.microsoft.com/office/powerpoint/2010/main" val="871573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6DB9-1C9E-1114-DB16-71FA9D1BB2B1}"/>
              </a:ext>
            </a:extLst>
          </p:cNvPr>
          <p:cNvSpPr>
            <a:spLocks noGrp="1"/>
          </p:cNvSpPr>
          <p:nvPr>
            <p:ph type="title"/>
          </p:nvPr>
        </p:nvSpPr>
        <p:spPr>
          <a:xfrm>
            <a:off x="109998" y="446581"/>
            <a:ext cx="10837332" cy="1320800"/>
          </a:xfrm>
        </p:spPr>
        <p:txBody>
          <a:bodyPr/>
          <a:lstStyle/>
          <a:p>
            <a:r>
              <a:rPr lang="en-US" dirty="0"/>
              <a:t>Research Question #1: Pitch Mix Vs. Success</a:t>
            </a:r>
          </a:p>
        </p:txBody>
      </p:sp>
      <p:graphicFrame>
        <p:nvGraphicFramePr>
          <p:cNvPr id="8" name="Content Placeholder 7">
            <a:extLst>
              <a:ext uri="{FF2B5EF4-FFF2-40B4-BE49-F238E27FC236}">
                <a16:creationId xmlns:a16="http://schemas.microsoft.com/office/drawing/2014/main" id="{1785F559-E604-B233-82B1-C1D9527CFE4C}"/>
              </a:ext>
            </a:extLst>
          </p:cNvPr>
          <p:cNvGraphicFramePr>
            <a:graphicFrameLocks noGrp="1"/>
          </p:cNvGraphicFramePr>
          <p:nvPr>
            <p:ph idx="1"/>
            <p:extLst>
              <p:ext uri="{D42A27DB-BD31-4B8C-83A1-F6EECF244321}">
                <p14:modId xmlns:p14="http://schemas.microsoft.com/office/powerpoint/2010/main" val="834945494"/>
              </p:ext>
            </p:extLst>
          </p:nvPr>
        </p:nvGraphicFramePr>
        <p:xfrm>
          <a:off x="378012" y="1254760"/>
          <a:ext cx="3563844" cy="2036605"/>
        </p:xfrm>
        <a:graphic>
          <a:graphicData uri="http://schemas.openxmlformats.org/drawingml/2006/table">
            <a:tbl>
              <a:tblPr firstRow="1" bandRow="1">
                <a:tableStyleId>{5C22544A-7EE6-4342-B048-85BDC9FD1C3A}</a:tableStyleId>
              </a:tblPr>
              <a:tblGrid>
                <a:gridCol w="1187948">
                  <a:extLst>
                    <a:ext uri="{9D8B030D-6E8A-4147-A177-3AD203B41FA5}">
                      <a16:colId xmlns:a16="http://schemas.microsoft.com/office/drawing/2014/main" val="2769021960"/>
                    </a:ext>
                  </a:extLst>
                </a:gridCol>
                <a:gridCol w="1187948">
                  <a:extLst>
                    <a:ext uri="{9D8B030D-6E8A-4147-A177-3AD203B41FA5}">
                      <a16:colId xmlns:a16="http://schemas.microsoft.com/office/drawing/2014/main" val="986645023"/>
                    </a:ext>
                  </a:extLst>
                </a:gridCol>
                <a:gridCol w="1187948">
                  <a:extLst>
                    <a:ext uri="{9D8B030D-6E8A-4147-A177-3AD203B41FA5}">
                      <a16:colId xmlns:a16="http://schemas.microsoft.com/office/drawing/2014/main" val="300874309"/>
                    </a:ext>
                  </a:extLst>
                </a:gridCol>
              </a:tblGrid>
              <a:tr h="390685">
                <a:tc gridSpan="3">
                  <a:txBody>
                    <a:bodyPr/>
                    <a:lstStyle/>
                    <a:p>
                      <a:pPr algn="ctr"/>
                      <a:r>
                        <a:rPr lang="en-US" dirty="0"/>
                        <a:t>Mean ERA</a:t>
                      </a:r>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25638045"/>
                  </a:ext>
                </a:extLst>
              </a:tr>
              <a:tr h="346632">
                <a:tc>
                  <a:txBody>
                    <a:bodyPr/>
                    <a:lstStyle/>
                    <a:p>
                      <a:pPr algn="ctr"/>
                      <a:r>
                        <a:rPr lang="en-US" dirty="0"/>
                        <a:t>Fastball</a:t>
                      </a:r>
                    </a:p>
                  </a:txBody>
                  <a:tcPr/>
                </a:tc>
                <a:tc>
                  <a:txBody>
                    <a:bodyPr/>
                    <a:lstStyle/>
                    <a:p>
                      <a:pPr algn="ctr"/>
                      <a:r>
                        <a:rPr lang="en-US" dirty="0"/>
                        <a:t>Breaking Pitches</a:t>
                      </a:r>
                    </a:p>
                  </a:txBody>
                  <a:tcPr/>
                </a:tc>
                <a:tc>
                  <a:txBody>
                    <a:bodyPr/>
                    <a:lstStyle/>
                    <a:p>
                      <a:pPr algn="ctr"/>
                      <a:r>
                        <a:rPr lang="en-US" dirty="0"/>
                        <a:t>Offspeed Pitches</a:t>
                      </a:r>
                    </a:p>
                  </a:txBody>
                  <a:tcPr/>
                </a:tc>
                <a:extLst>
                  <a:ext uri="{0D108BD9-81ED-4DB2-BD59-A6C34878D82A}">
                    <a16:rowId xmlns:a16="http://schemas.microsoft.com/office/drawing/2014/main" val="320475499"/>
                  </a:ext>
                </a:extLst>
              </a:tr>
              <a:tr h="606606">
                <a:tc>
                  <a:txBody>
                    <a:bodyPr/>
                    <a:lstStyle/>
                    <a:p>
                      <a:pPr algn="ctr"/>
                      <a:r>
                        <a:rPr lang="en-US" b="0" dirty="0">
                          <a:solidFill>
                            <a:schemeClr val="bg1"/>
                          </a:solidFill>
                        </a:rPr>
                        <a:t>Primary Pitch</a:t>
                      </a:r>
                    </a:p>
                  </a:txBody>
                  <a:tcPr>
                    <a:solidFill>
                      <a:schemeClr val="accent1"/>
                    </a:solidFill>
                  </a:tcPr>
                </a:tc>
                <a:tc>
                  <a:txBody>
                    <a:bodyPr/>
                    <a:lstStyle/>
                    <a:p>
                      <a:pPr algn="ctr"/>
                      <a:r>
                        <a:rPr lang="en-US" b="0" dirty="0">
                          <a:solidFill>
                            <a:schemeClr val="bg1"/>
                          </a:solidFill>
                        </a:rPr>
                        <a:t>Primary Pitch</a:t>
                      </a:r>
                    </a:p>
                  </a:txBody>
                  <a:tcPr>
                    <a:solidFill>
                      <a:schemeClr val="accent1"/>
                    </a:solidFill>
                  </a:tcPr>
                </a:tc>
                <a:tc>
                  <a:txBody>
                    <a:bodyPr/>
                    <a:lstStyle/>
                    <a:p>
                      <a:pPr algn="ctr"/>
                      <a:r>
                        <a:rPr lang="en-US" b="0" dirty="0">
                          <a:solidFill>
                            <a:schemeClr val="bg1"/>
                          </a:solidFill>
                        </a:rPr>
                        <a:t>Primary Pitch</a:t>
                      </a:r>
                    </a:p>
                  </a:txBody>
                  <a:tcPr>
                    <a:solidFill>
                      <a:schemeClr val="accent1"/>
                    </a:solidFill>
                  </a:tcPr>
                </a:tc>
                <a:extLst>
                  <a:ext uri="{0D108BD9-81ED-4DB2-BD59-A6C34878D82A}">
                    <a16:rowId xmlns:a16="http://schemas.microsoft.com/office/drawing/2014/main" val="122878608"/>
                  </a:ext>
                </a:extLst>
              </a:tr>
              <a:tr h="346632">
                <a:tc>
                  <a:txBody>
                    <a:bodyPr/>
                    <a:lstStyle/>
                    <a:p>
                      <a:r>
                        <a:rPr lang="en-US" dirty="0"/>
                        <a:t>4.34</a:t>
                      </a:r>
                    </a:p>
                  </a:txBody>
                  <a:tcPr/>
                </a:tc>
                <a:tc>
                  <a:txBody>
                    <a:bodyPr/>
                    <a:lstStyle/>
                    <a:p>
                      <a:r>
                        <a:rPr lang="en-US" dirty="0"/>
                        <a:t>3.86</a:t>
                      </a:r>
                    </a:p>
                  </a:txBody>
                  <a:tcPr/>
                </a:tc>
                <a:tc>
                  <a:txBody>
                    <a:bodyPr/>
                    <a:lstStyle/>
                    <a:p>
                      <a:r>
                        <a:rPr lang="en-US" dirty="0"/>
                        <a:t>5.07</a:t>
                      </a:r>
                    </a:p>
                  </a:txBody>
                  <a:tcPr/>
                </a:tc>
                <a:extLst>
                  <a:ext uri="{0D108BD9-81ED-4DB2-BD59-A6C34878D82A}">
                    <a16:rowId xmlns:a16="http://schemas.microsoft.com/office/drawing/2014/main" val="574547631"/>
                  </a:ext>
                </a:extLst>
              </a:tr>
            </a:tbl>
          </a:graphicData>
        </a:graphic>
      </p:graphicFrame>
      <p:pic>
        <p:nvPicPr>
          <p:cNvPr id="9" name="Content Placeholder 5">
            <a:extLst>
              <a:ext uri="{FF2B5EF4-FFF2-40B4-BE49-F238E27FC236}">
                <a16:creationId xmlns:a16="http://schemas.microsoft.com/office/drawing/2014/main" id="{52122B1D-9A34-E1EA-EE14-9242A4D100C7}"/>
              </a:ext>
            </a:extLst>
          </p:cNvPr>
          <p:cNvPicPr>
            <a:picLocks noChangeAspect="1"/>
          </p:cNvPicPr>
          <p:nvPr/>
        </p:nvPicPr>
        <p:blipFill>
          <a:blip r:embed="rId2"/>
          <a:stretch>
            <a:fillRect/>
          </a:stretch>
        </p:blipFill>
        <p:spPr>
          <a:xfrm>
            <a:off x="4646144" y="3403567"/>
            <a:ext cx="4455843" cy="3212676"/>
          </a:xfrm>
          <a:prstGeom prst="rect">
            <a:avLst/>
          </a:prstGeom>
        </p:spPr>
      </p:pic>
      <p:pic>
        <p:nvPicPr>
          <p:cNvPr id="10" name="Picture 9">
            <a:extLst>
              <a:ext uri="{FF2B5EF4-FFF2-40B4-BE49-F238E27FC236}">
                <a16:creationId xmlns:a16="http://schemas.microsoft.com/office/drawing/2014/main" id="{08A237D9-C9D0-766A-3BCA-93C9C1CFF7AA}"/>
              </a:ext>
            </a:extLst>
          </p:cNvPr>
          <p:cNvPicPr>
            <a:picLocks noChangeAspect="1"/>
          </p:cNvPicPr>
          <p:nvPr/>
        </p:nvPicPr>
        <p:blipFill>
          <a:blip r:embed="rId3"/>
          <a:stretch>
            <a:fillRect/>
          </a:stretch>
        </p:blipFill>
        <p:spPr>
          <a:xfrm>
            <a:off x="378012" y="3429000"/>
            <a:ext cx="4268132" cy="3187242"/>
          </a:xfrm>
          <a:prstGeom prst="rect">
            <a:avLst/>
          </a:prstGeom>
        </p:spPr>
      </p:pic>
      <p:sp>
        <p:nvSpPr>
          <p:cNvPr id="11" name="TextBox 10">
            <a:extLst>
              <a:ext uri="{FF2B5EF4-FFF2-40B4-BE49-F238E27FC236}">
                <a16:creationId xmlns:a16="http://schemas.microsoft.com/office/drawing/2014/main" id="{8A11F654-1090-1F37-8DA5-3F7244CA659A}"/>
              </a:ext>
            </a:extLst>
          </p:cNvPr>
          <p:cNvSpPr txBox="1"/>
          <p:nvPr/>
        </p:nvSpPr>
        <p:spPr>
          <a:xfrm>
            <a:off x="4432300" y="1371600"/>
            <a:ext cx="4669687" cy="1502728"/>
          </a:xfrm>
          <a:prstGeom prst="rect">
            <a:avLst/>
          </a:prstGeom>
          <a:noFill/>
        </p:spPr>
        <p:txBody>
          <a:bodyPr wrap="square" rtlCol="0">
            <a:spAutoFit/>
          </a:bodyPr>
          <a:lstStyle/>
          <a:p>
            <a:r>
              <a:rPr lang="en-US" dirty="0"/>
              <a:t>Initial Testing of Mean ERAs with primary pitches and ERAs among two pitch combinations show that more use of offspeed (red and green bars) may be associated with higher ERAs</a:t>
            </a:r>
          </a:p>
        </p:txBody>
      </p:sp>
    </p:spTree>
    <p:extLst>
      <p:ext uri="{BB962C8B-B14F-4D97-AF65-F5344CB8AC3E}">
        <p14:creationId xmlns:p14="http://schemas.microsoft.com/office/powerpoint/2010/main" val="3367658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51281-F495-E657-3C0D-00BBAD11A16C}"/>
              </a:ext>
            </a:extLst>
          </p:cNvPr>
          <p:cNvSpPr>
            <a:spLocks noGrp="1"/>
          </p:cNvSpPr>
          <p:nvPr>
            <p:ph type="title"/>
          </p:nvPr>
        </p:nvSpPr>
        <p:spPr/>
        <p:txBody>
          <a:bodyPr/>
          <a:lstStyle/>
          <a:p>
            <a:r>
              <a:rPr lang="en-US" dirty="0"/>
              <a:t>Research Question #1: Pitch Mix Vs. Success</a:t>
            </a:r>
          </a:p>
        </p:txBody>
      </p:sp>
      <p:graphicFrame>
        <p:nvGraphicFramePr>
          <p:cNvPr id="14" name="Content Placeholder 13">
            <a:extLst>
              <a:ext uri="{FF2B5EF4-FFF2-40B4-BE49-F238E27FC236}">
                <a16:creationId xmlns:a16="http://schemas.microsoft.com/office/drawing/2014/main" id="{007B5704-C61E-F57B-79C0-04F7B8D8A588}"/>
              </a:ext>
            </a:extLst>
          </p:cNvPr>
          <p:cNvGraphicFramePr>
            <a:graphicFrameLocks noGrp="1"/>
          </p:cNvGraphicFramePr>
          <p:nvPr>
            <p:ph idx="1"/>
            <p:extLst>
              <p:ext uri="{D42A27DB-BD31-4B8C-83A1-F6EECF244321}">
                <p14:modId xmlns:p14="http://schemas.microsoft.com/office/powerpoint/2010/main" val="1285109773"/>
              </p:ext>
            </p:extLst>
          </p:nvPr>
        </p:nvGraphicFramePr>
        <p:xfrm>
          <a:off x="677334" y="1930400"/>
          <a:ext cx="6877048" cy="1112520"/>
        </p:xfrm>
        <a:graphic>
          <a:graphicData uri="http://schemas.openxmlformats.org/drawingml/2006/table">
            <a:tbl>
              <a:tblPr firstRow="1" bandRow="1">
                <a:tableStyleId>{5C22544A-7EE6-4342-B048-85BDC9FD1C3A}</a:tableStyleId>
              </a:tblPr>
              <a:tblGrid>
                <a:gridCol w="1719262">
                  <a:extLst>
                    <a:ext uri="{9D8B030D-6E8A-4147-A177-3AD203B41FA5}">
                      <a16:colId xmlns:a16="http://schemas.microsoft.com/office/drawing/2014/main" val="850015351"/>
                    </a:ext>
                  </a:extLst>
                </a:gridCol>
                <a:gridCol w="1719262">
                  <a:extLst>
                    <a:ext uri="{9D8B030D-6E8A-4147-A177-3AD203B41FA5}">
                      <a16:colId xmlns:a16="http://schemas.microsoft.com/office/drawing/2014/main" val="3031678606"/>
                    </a:ext>
                  </a:extLst>
                </a:gridCol>
                <a:gridCol w="1719262">
                  <a:extLst>
                    <a:ext uri="{9D8B030D-6E8A-4147-A177-3AD203B41FA5}">
                      <a16:colId xmlns:a16="http://schemas.microsoft.com/office/drawing/2014/main" val="1226733448"/>
                    </a:ext>
                  </a:extLst>
                </a:gridCol>
                <a:gridCol w="1719262">
                  <a:extLst>
                    <a:ext uri="{9D8B030D-6E8A-4147-A177-3AD203B41FA5}">
                      <a16:colId xmlns:a16="http://schemas.microsoft.com/office/drawing/2014/main" val="2714564790"/>
                    </a:ext>
                  </a:extLst>
                </a:gridCol>
              </a:tblGrid>
              <a:tr h="370840">
                <a:tc gridSpan="4">
                  <a:txBody>
                    <a:bodyPr/>
                    <a:lstStyle/>
                    <a:p>
                      <a:pPr algn="ctr"/>
                      <a:r>
                        <a:rPr lang="en-US" dirty="0"/>
                        <a:t>Mean ERA by Use of Offspeed</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817051305"/>
                  </a:ext>
                </a:extLst>
              </a:tr>
              <a:tr h="370840">
                <a:tc>
                  <a:txBody>
                    <a:bodyPr/>
                    <a:lstStyle/>
                    <a:p>
                      <a:r>
                        <a:rPr lang="en-US" dirty="0"/>
                        <a:t>Primary Pitch</a:t>
                      </a:r>
                    </a:p>
                  </a:txBody>
                  <a:tcPr/>
                </a:tc>
                <a:tc>
                  <a:txBody>
                    <a:bodyPr/>
                    <a:lstStyle/>
                    <a:p>
                      <a:r>
                        <a:rPr lang="en-US" dirty="0"/>
                        <a:t>Moderate Use</a:t>
                      </a:r>
                    </a:p>
                  </a:txBody>
                  <a:tcPr/>
                </a:tc>
                <a:tc>
                  <a:txBody>
                    <a:bodyPr/>
                    <a:lstStyle/>
                    <a:p>
                      <a:r>
                        <a:rPr lang="en-US" dirty="0"/>
                        <a:t>Minimal Use</a:t>
                      </a:r>
                    </a:p>
                  </a:txBody>
                  <a:tcPr/>
                </a:tc>
                <a:tc>
                  <a:txBody>
                    <a:bodyPr/>
                    <a:lstStyle/>
                    <a:p>
                      <a:r>
                        <a:rPr lang="en-US" dirty="0"/>
                        <a:t>No Use</a:t>
                      </a:r>
                    </a:p>
                  </a:txBody>
                  <a:tcPr/>
                </a:tc>
                <a:extLst>
                  <a:ext uri="{0D108BD9-81ED-4DB2-BD59-A6C34878D82A}">
                    <a16:rowId xmlns:a16="http://schemas.microsoft.com/office/drawing/2014/main" val="498008706"/>
                  </a:ext>
                </a:extLst>
              </a:tr>
              <a:tr h="370840">
                <a:tc>
                  <a:txBody>
                    <a:bodyPr/>
                    <a:lstStyle/>
                    <a:p>
                      <a:r>
                        <a:rPr lang="en-US" dirty="0"/>
                        <a:t>5.07</a:t>
                      </a:r>
                    </a:p>
                  </a:txBody>
                  <a:tcPr/>
                </a:tc>
                <a:tc>
                  <a:txBody>
                    <a:bodyPr/>
                    <a:lstStyle/>
                    <a:p>
                      <a:r>
                        <a:rPr lang="en-US" dirty="0"/>
                        <a:t>4.10</a:t>
                      </a:r>
                    </a:p>
                  </a:txBody>
                  <a:tcPr/>
                </a:tc>
                <a:tc>
                  <a:txBody>
                    <a:bodyPr/>
                    <a:lstStyle/>
                    <a:p>
                      <a:r>
                        <a:rPr lang="en-US" dirty="0"/>
                        <a:t>4.39</a:t>
                      </a:r>
                    </a:p>
                  </a:txBody>
                  <a:tcPr/>
                </a:tc>
                <a:tc>
                  <a:txBody>
                    <a:bodyPr/>
                    <a:lstStyle/>
                    <a:p>
                      <a:r>
                        <a:rPr lang="en-US" dirty="0"/>
                        <a:t>3.89</a:t>
                      </a:r>
                    </a:p>
                  </a:txBody>
                  <a:tcPr/>
                </a:tc>
                <a:extLst>
                  <a:ext uri="{0D108BD9-81ED-4DB2-BD59-A6C34878D82A}">
                    <a16:rowId xmlns:a16="http://schemas.microsoft.com/office/drawing/2014/main" val="331436083"/>
                  </a:ext>
                </a:extLst>
              </a:tr>
            </a:tbl>
          </a:graphicData>
        </a:graphic>
      </p:graphicFrame>
      <p:pic>
        <p:nvPicPr>
          <p:cNvPr id="13" name="Picture 12">
            <a:extLst>
              <a:ext uri="{FF2B5EF4-FFF2-40B4-BE49-F238E27FC236}">
                <a16:creationId xmlns:a16="http://schemas.microsoft.com/office/drawing/2014/main" id="{6491034B-D6C7-F7B5-C2E2-7A6C67212725}"/>
              </a:ext>
            </a:extLst>
          </p:cNvPr>
          <p:cNvPicPr>
            <a:picLocks noChangeAspect="1"/>
          </p:cNvPicPr>
          <p:nvPr/>
        </p:nvPicPr>
        <p:blipFill>
          <a:blip r:embed="rId2"/>
          <a:stretch>
            <a:fillRect/>
          </a:stretch>
        </p:blipFill>
        <p:spPr>
          <a:xfrm>
            <a:off x="677334" y="3251200"/>
            <a:ext cx="3149600" cy="419100"/>
          </a:xfrm>
          <a:prstGeom prst="rect">
            <a:avLst/>
          </a:prstGeom>
        </p:spPr>
      </p:pic>
      <p:sp>
        <p:nvSpPr>
          <p:cNvPr id="15" name="TextBox 14">
            <a:extLst>
              <a:ext uri="{FF2B5EF4-FFF2-40B4-BE49-F238E27FC236}">
                <a16:creationId xmlns:a16="http://schemas.microsoft.com/office/drawing/2014/main" id="{129874F0-0E15-3292-B432-26028449E7BC}"/>
              </a:ext>
            </a:extLst>
          </p:cNvPr>
          <p:cNvSpPr txBox="1"/>
          <p:nvPr/>
        </p:nvSpPr>
        <p:spPr>
          <a:xfrm>
            <a:off x="677334" y="3937000"/>
            <a:ext cx="7387166" cy="2031325"/>
          </a:xfrm>
          <a:prstGeom prst="rect">
            <a:avLst/>
          </a:prstGeom>
          <a:noFill/>
        </p:spPr>
        <p:txBody>
          <a:bodyPr wrap="square" rtlCol="0">
            <a:spAutoFit/>
          </a:bodyPr>
          <a:lstStyle/>
          <a:p>
            <a:pPr marL="285750" indent="-285750">
              <a:buFont typeface="Arial" panose="020B0604020202020204" pitchFamily="34" charset="0"/>
              <a:buChar char="•"/>
            </a:pPr>
            <a:r>
              <a:rPr lang="en-US" dirty="0"/>
              <a:t>Grouping by offspeed pitch usage, I ran ANOVA to see if the difference between the ERAs was statistically significant</a:t>
            </a:r>
          </a:p>
          <a:p>
            <a:pPr marL="285750" indent="-285750">
              <a:buFont typeface="Arial" panose="020B0604020202020204" pitchFamily="34" charset="0"/>
              <a:buChar char="•"/>
            </a:pPr>
            <a:r>
              <a:rPr lang="en-US" dirty="0"/>
              <a:t>A p-value of 0.039 signals that there is statistical significance to this. The average pitcher who uses offspeed pitches more often will tend to see higher ERAs.</a:t>
            </a:r>
          </a:p>
          <a:p>
            <a:pPr marL="285750" indent="-285750">
              <a:buFont typeface="Arial" panose="020B0604020202020204" pitchFamily="34" charset="0"/>
              <a:buChar char="•"/>
            </a:pPr>
            <a:r>
              <a:rPr lang="en-US" dirty="0"/>
              <a:t>There was not statistically significant differences between other pitch mix groups</a:t>
            </a:r>
          </a:p>
        </p:txBody>
      </p:sp>
    </p:spTree>
    <p:extLst>
      <p:ext uri="{BB962C8B-B14F-4D97-AF65-F5344CB8AC3E}">
        <p14:creationId xmlns:p14="http://schemas.microsoft.com/office/powerpoint/2010/main" val="159630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6" name="Group 65">
            <a:extLst>
              <a:ext uri="{FF2B5EF4-FFF2-40B4-BE49-F238E27FC236}">
                <a16:creationId xmlns:a16="http://schemas.microsoft.com/office/drawing/2014/main" id="{EBE86EA4-C4F1-4465-B306-7A2BC22859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7" name="Straight Connector 66">
              <a:extLst>
                <a:ext uri="{FF2B5EF4-FFF2-40B4-BE49-F238E27FC236}">
                  <a16:creationId xmlns:a16="http://schemas.microsoft.com/office/drawing/2014/main" id="{A8279268-DB29-43BE-B57C-14977EACFD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8FA53C0-C1EF-4611-BAB3-65EEB16AA3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81CDACFC-DD8A-4CC0-B7FC-6030FC353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Rectangle 25">
              <a:extLst>
                <a:ext uri="{FF2B5EF4-FFF2-40B4-BE49-F238E27FC236}">
                  <a16:creationId xmlns:a16="http://schemas.microsoft.com/office/drawing/2014/main" id="{0269F267-73D4-4CC3-BEC7-73335654D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9" name="Isosceles Triangle 16">
              <a:extLst>
                <a:ext uri="{FF2B5EF4-FFF2-40B4-BE49-F238E27FC236}">
                  <a16:creationId xmlns:a16="http://schemas.microsoft.com/office/drawing/2014/main" id="{DC48F13D-B2D7-4EB8-9CA7-59243637C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27">
              <a:extLst>
                <a:ext uri="{FF2B5EF4-FFF2-40B4-BE49-F238E27FC236}">
                  <a16:creationId xmlns:a16="http://schemas.microsoft.com/office/drawing/2014/main" id="{A82405B3-5A67-4DA2-8EDA-7AB65A8B4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 name="Rectangle 28">
              <a:extLst>
                <a:ext uri="{FF2B5EF4-FFF2-40B4-BE49-F238E27FC236}">
                  <a16:creationId xmlns:a16="http://schemas.microsoft.com/office/drawing/2014/main" id="{7508BC7B-3BD2-4D96-A46E-82988222A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Rectangle 29">
              <a:extLst>
                <a:ext uri="{FF2B5EF4-FFF2-40B4-BE49-F238E27FC236}">
                  <a16:creationId xmlns:a16="http://schemas.microsoft.com/office/drawing/2014/main" id="{4298D07C-2287-4B93-9041-935144DE1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Isosceles Triangle 20">
              <a:extLst>
                <a:ext uri="{FF2B5EF4-FFF2-40B4-BE49-F238E27FC236}">
                  <a16:creationId xmlns:a16="http://schemas.microsoft.com/office/drawing/2014/main" id="{0F6BC886-C125-4903-8C2A-6FB68740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C9D0B38F-2E02-4E85-99EE-73595E7C8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74" name="Rectangle 73">
            <a:extLst>
              <a:ext uri="{FF2B5EF4-FFF2-40B4-BE49-F238E27FC236}">
                <a16:creationId xmlns:a16="http://schemas.microsoft.com/office/drawing/2014/main" id="{BD11ECC6-8551-4768-8DFD-CD41AF420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12192000" cy="228599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5" name="Group 74">
            <a:extLst>
              <a:ext uri="{FF2B5EF4-FFF2-40B4-BE49-F238E27FC236}">
                <a16:creationId xmlns:a16="http://schemas.microsoft.com/office/drawing/2014/main" id="{93657592-CA60-4F45-B1A0-88AA772420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25267" y="-8467"/>
            <a:ext cx="4766733" cy="6866467"/>
            <a:chOff x="7425267" y="-8467"/>
            <a:chExt cx="4766733" cy="6866467"/>
          </a:xfrm>
        </p:grpSpPr>
        <p:cxnSp>
          <p:nvCxnSpPr>
            <p:cNvPr id="27" name="Straight Connector 26">
              <a:extLst>
                <a:ext uri="{FF2B5EF4-FFF2-40B4-BE49-F238E27FC236}">
                  <a16:creationId xmlns:a16="http://schemas.microsoft.com/office/drawing/2014/main" id="{6F47E2B4-7DA9-4312-A1F0-C48388B23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5B274F7-039F-4BFC-AA98-B51B1D6C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76" name="Rectangle 23">
              <a:extLst>
                <a:ext uri="{FF2B5EF4-FFF2-40B4-BE49-F238E27FC236}">
                  <a16:creationId xmlns:a16="http://schemas.microsoft.com/office/drawing/2014/main" id="{11A31103-C703-46C9-9D26-497A1ACD5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7" name="Rectangle 25">
              <a:extLst>
                <a:ext uri="{FF2B5EF4-FFF2-40B4-BE49-F238E27FC236}">
                  <a16:creationId xmlns:a16="http://schemas.microsoft.com/office/drawing/2014/main" id="{382F955F-FC22-44B8-BDCF-B7758032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8" name="Isosceles Triangle 30">
              <a:extLst>
                <a:ext uri="{FF2B5EF4-FFF2-40B4-BE49-F238E27FC236}">
                  <a16:creationId xmlns:a16="http://schemas.microsoft.com/office/drawing/2014/main" id="{1F567692-F087-479A-8931-BD2869C3E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49B3E4CD-0738-4B9D-A14F-1E8694DDF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4753B851-AD90-4CCD-85D0-65AA6567D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EBF14868-A190-4E21-9522-8977C474C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Isosceles Triangle 34">
              <a:extLst>
                <a:ext uri="{FF2B5EF4-FFF2-40B4-BE49-F238E27FC236}">
                  <a16:creationId xmlns:a16="http://schemas.microsoft.com/office/drawing/2014/main" id="{BCBB4922-76EE-442B-A649-09873DCE7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80" name="Rectangle 79">
            <a:extLst>
              <a:ext uri="{FF2B5EF4-FFF2-40B4-BE49-F238E27FC236}">
                <a16:creationId xmlns:a16="http://schemas.microsoft.com/office/drawing/2014/main" id="{8E2EB503-A017-4457-A105-53638C97D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CD7438E-CDE4-9EF1-8D67-A8BAE30A1FA9}"/>
              </a:ext>
            </a:extLst>
          </p:cNvPr>
          <p:cNvPicPr>
            <a:picLocks noChangeAspect="1"/>
          </p:cNvPicPr>
          <p:nvPr/>
        </p:nvPicPr>
        <p:blipFill>
          <a:blip r:embed="rId2"/>
          <a:stretch>
            <a:fillRect/>
          </a:stretch>
        </p:blipFill>
        <p:spPr>
          <a:xfrm>
            <a:off x="7848805" y="1116966"/>
            <a:ext cx="4053623" cy="3090886"/>
          </a:xfrm>
          <a:prstGeom prst="rect">
            <a:avLst/>
          </a:prstGeom>
        </p:spPr>
      </p:pic>
      <p:pic>
        <p:nvPicPr>
          <p:cNvPr id="5" name="Picture 4">
            <a:extLst>
              <a:ext uri="{FF2B5EF4-FFF2-40B4-BE49-F238E27FC236}">
                <a16:creationId xmlns:a16="http://schemas.microsoft.com/office/drawing/2014/main" id="{7E9AF6B8-B6AA-A651-01D8-56D9E6578C62}"/>
              </a:ext>
            </a:extLst>
          </p:cNvPr>
          <p:cNvPicPr>
            <a:picLocks noChangeAspect="1"/>
          </p:cNvPicPr>
          <p:nvPr/>
        </p:nvPicPr>
        <p:blipFill>
          <a:blip r:embed="rId3"/>
          <a:srcRect r="4781" b="-3"/>
          <a:stretch>
            <a:fillRect/>
          </a:stretch>
        </p:blipFill>
        <p:spPr>
          <a:xfrm>
            <a:off x="3902484" y="1116967"/>
            <a:ext cx="4053623" cy="3001384"/>
          </a:xfrm>
          <a:prstGeom prst="rect">
            <a:avLst/>
          </a:prstGeom>
        </p:spPr>
      </p:pic>
      <p:pic>
        <p:nvPicPr>
          <p:cNvPr id="4" name="Picture 3">
            <a:extLst>
              <a:ext uri="{FF2B5EF4-FFF2-40B4-BE49-F238E27FC236}">
                <a16:creationId xmlns:a16="http://schemas.microsoft.com/office/drawing/2014/main" id="{A1E1B099-7B21-394C-EEE5-14DC41711D9F}"/>
              </a:ext>
            </a:extLst>
          </p:cNvPr>
          <p:cNvPicPr>
            <a:picLocks noChangeAspect="1"/>
          </p:cNvPicPr>
          <p:nvPr/>
        </p:nvPicPr>
        <p:blipFill>
          <a:blip r:embed="rId4"/>
          <a:srcRect r="11377" b="1"/>
          <a:stretch>
            <a:fillRect/>
          </a:stretch>
        </p:blipFill>
        <p:spPr>
          <a:xfrm>
            <a:off x="-81801" y="1116966"/>
            <a:ext cx="4053623" cy="2984508"/>
          </a:xfrm>
          <a:prstGeom prst="rect">
            <a:avLst/>
          </a:prstGeom>
        </p:spPr>
      </p:pic>
      <p:sp>
        <p:nvSpPr>
          <p:cNvPr id="65" name="TextBox 64">
            <a:extLst>
              <a:ext uri="{FF2B5EF4-FFF2-40B4-BE49-F238E27FC236}">
                <a16:creationId xmlns:a16="http://schemas.microsoft.com/office/drawing/2014/main" id="{6B8D3D72-9271-C08F-9488-38F66EDC37EC}"/>
              </a:ext>
            </a:extLst>
          </p:cNvPr>
          <p:cNvSpPr txBox="1"/>
          <p:nvPr/>
        </p:nvSpPr>
        <p:spPr>
          <a:xfrm>
            <a:off x="637429" y="4692650"/>
            <a:ext cx="4394200" cy="1200329"/>
          </a:xfrm>
          <a:prstGeom prst="rect">
            <a:avLst/>
          </a:prstGeom>
          <a:noFill/>
        </p:spPr>
        <p:txBody>
          <a:bodyPr wrap="square" rtlCol="0">
            <a:spAutoFit/>
          </a:bodyPr>
          <a:lstStyle/>
          <a:p>
            <a:r>
              <a:rPr lang="en-US" dirty="0">
                <a:solidFill>
                  <a:schemeClr val="accent1"/>
                </a:solidFill>
              </a:rPr>
              <a:t>No Use: Green</a:t>
            </a:r>
          </a:p>
          <a:p>
            <a:r>
              <a:rPr lang="en-US" dirty="0">
                <a:solidFill>
                  <a:srgbClr val="A34AE9"/>
                </a:solidFill>
              </a:rPr>
              <a:t>Minimal Use Purple</a:t>
            </a:r>
          </a:p>
          <a:p>
            <a:r>
              <a:rPr lang="en-US" dirty="0">
                <a:solidFill>
                  <a:srgbClr val="00B0F0"/>
                </a:solidFill>
              </a:rPr>
              <a:t>Moderate Use: Light Blue</a:t>
            </a:r>
          </a:p>
          <a:p>
            <a:r>
              <a:rPr lang="en-US" dirty="0">
                <a:solidFill>
                  <a:schemeClr val="accent3"/>
                </a:solidFill>
              </a:rPr>
              <a:t>Primary Pitch: Orange</a:t>
            </a:r>
          </a:p>
        </p:txBody>
      </p:sp>
      <p:sp>
        <p:nvSpPr>
          <p:cNvPr id="82" name="TextBox 81">
            <a:extLst>
              <a:ext uri="{FF2B5EF4-FFF2-40B4-BE49-F238E27FC236}">
                <a16:creationId xmlns:a16="http://schemas.microsoft.com/office/drawing/2014/main" id="{5C438E19-415C-6B3A-CF9F-7B2EFAF2EC78}"/>
              </a:ext>
            </a:extLst>
          </p:cNvPr>
          <p:cNvSpPr txBox="1"/>
          <p:nvPr/>
        </p:nvSpPr>
        <p:spPr>
          <a:xfrm>
            <a:off x="345748" y="202367"/>
            <a:ext cx="11072839" cy="553998"/>
          </a:xfrm>
          <a:prstGeom prst="rect">
            <a:avLst/>
          </a:prstGeom>
          <a:noFill/>
        </p:spPr>
        <p:txBody>
          <a:bodyPr wrap="none" rtlCol="0">
            <a:spAutoFit/>
          </a:bodyPr>
          <a:lstStyle/>
          <a:p>
            <a:r>
              <a:rPr lang="en-US" sz="3000" dirty="0">
                <a:solidFill>
                  <a:schemeClr val="accent1"/>
                </a:solidFill>
                <a:latin typeface="+mj-lt"/>
              </a:rPr>
              <a:t>Research Question #2: Pitch Types Relationship with Ks and BBs</a:t>
            </a:r>
          </a:p>
        </p:txBody>
      </p:sp>
      <p:sp>
        <p:nvSpPr>
          <p:cNvPr id="86" name="TextBox 85">
            <a:extLst>
              <a:ext uri="{FF2B5EF4-FFF2-40B4-BE49-F238E27FC236}">
                <a16:creationId xmlns:a16="http://schemas.microsoft.com/office/drawing/2014/main" id="{9C8CBC8A-5EC8-4CC3-6D24-BBEF50F98F97}"/>
              </a:ext>
            </a:extLst>
          </p:cNvPr>
          <p:cNvSpPr txBox="1"/>
          <p:nvPr/>
        </p:nvSpPr>
        <p:spPr>
          <a:xfrm>
            <a:off x="3547749" y="4643341"/>
            <a:ext cx="7137401"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Those who are not using offspeed tend to be striking out and walking batters more. </a:t>
            </a:r>
          </a:p>
          <a:p>
            <a:pPr marL="285750" indent="-285750">
              <a:buFont typeface="Arial" panose="020B0604020202020204" pitchFamily="34" charset="0"/>
              <a:buChar char="•"/>
            </a:pPr>
            <a:r>
              <a:rPr lang="en-US" dirty="0">
                <a:solidFill>
                  <a:schemeClr val="bg1"/>
                </a:solidFill>
              </a:rPr>
              <a:t>There are more outliers in both strikeouts and walks for primary fastball pitchers.</a:t>
            </a:r>
          </a:p>
          <a:p>
            <a:pPr marL="285750" indent="-285750">
              <a:buFont typeface="Arial" panose="020B0604020202020204" pitchFamily="34" charset="0"/>
              <a:buChar char="•"/>
            </a:pPr>
            <a:r>
              <a:rPr lang="en-US" dirty="0">
                <a:solidFill>
                  <a:schemeClr val="bg1"/>
                </a:solidFill>
              </a:rPr>
              <a:t>Minimal breaking pitch use seems to strikeout players a bit less on average but are also walking batters a bit less than the other groups.</a:t>
            </a:r>
          </a:p>
        </p:txBody>
      </p:sp>
    </p:spTree>
    <p:extLst>
      <p:ext uri="{BB962C8B-B14F-4D97-AF65-F5344CB8AC3E}">
        <p14:creationId xmlns:p14="http://schemas.microsoft.com/office/powerpoint/2010/main" val="3201681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CAE3-D7B1-D96D-DE43-E25F30DC5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8A73A-0E7A-8DA0-2241-C90C355AB16B}"/>
              </a:ext>
            </a:extLst>
          </p:cNvPr>
          <p:cNvSpPr>
            <a:spLocks noGrp="1"/>
          </p:cNvSpPr>
          <p:nvPr>
            <p:ph type="title"/>
          </p:nvPr>
        </p:nvSpPr>
        <p:spPr>
          <a:xfrm>
            <a:off x="270934" y="171356"/>
            <a:ext cx="9000065" cy="608474"/>
          </a:xfrm>
        </p:spPr>
        <p:txBody>
          <a:bodyPr>
            <a:noAutofit/>
          </a:bodyPr>
          <a:lstStyle/>
          <a:p>
            <a:r>
              <a:rPr lang="en-US" sz="2200" dirty="0"/>
              <a:t>Research Question #2: Pitch Types Relationship with Ks and BBs</a:t>
            </a:r>
          </a:p>
        </p:txBody>
      </p:sp>
      <p:sp>
        <p:nvSpPr>
          <p:cNvPr id="3" name="Content Placeholder 2">
            <a:extLst>
              <a:ext uri="{FF2B5EF4-FFF2-40B4-BE49-F238E27FC236}">
                <a16:creationId xmlns:a16="http://schemas.microsoft.com/office/drawing/2014/main" id="{0ECAF38E-F14D-9D56-80DB-703331D7405D}"/>
              </a:ext>
            </a:extLst>
          </p:cNvPr>
          <p:cNvSpPr>
            <a:spLocks noGrp="1"/>
          </p:cNvSpPr>
          <p:nvPr>
            <p:ph idx="1"/>
          </p:nvPr>
        </p:nvSpPr>
        <p:spPr>
          <a:xfrm>
            <a:off x="270934" y="1033829"/>
            <a:ext cx="4554233" cy="267818"/>
          </a:xfrm>
        </p:spPr>
        <p:txBody>
          <a:bodyPr>
            <a:normAutofit fontScale="77500" lnSpcReduction="20000"/>
          </a:bodyPr>
          <a:lstStyle/>
          <a:p>
            <a:pPr marL="0" indent="0" algn="ctr">
              <a:buNone/>
            </a:pPr>
            <a:r>
              <a:rPr lang="en-US" b="1" dirty="0"/>
              <a:t>Regression on K% using Pitch Types</a:t>
            </a:r>
          </a:p>
        </p:txBody>
      </p:sp>
      <p:sp>
        <p:nvSpPr>
          <p:cNvPr id="5" name="Content Placeholder 2">
            <a:extLst>
              <a:ext uri="{FF2B5EF4-FFF2-40B4-BE49-F238E27FC236}">
                <a16:creationId xmlns:a16="http://schemas.microsoft.com/office/drawing/2014/main" id="{B28B7104-E6E4-AF25-78F6-E3F70E54AF2D}"/>
              </a:ext>
            </a:extLst>
          </p:cNvPr>
          <p:cNvSpPr txBox="1">
            <a:spLocks/>
          </p:cNvSpPr>
          <p:nvPr/>
        </p:nvSpPr>
        <p:spPr>
          <a:xfrm>
            <a:off x="4421719" y="1015038"/>
            <a:ext cx="5094829" cy="26781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dirty="0"/>
              <a:t>Regression on BB% using Pitch Types</a:t>
            </a:r>
          </a:p>
        </p:txBody>
      </p:sp>
      <p:sp>
        <p:nvSpPr>
          <p:cNvPr id="8" name="TextBox 7">
            <a:extLst>
              <a:ext uri="{FF2B5EF4-FFF2-40B4-BE49-F238E27FC236}">
                <a16:creationId xmlns:a16="http://schemas.microsoft.com/office/drawing/2014/main" id="{237299AB-1589-7FD6-127B-6A91D91BC948}"/>
              </a:ext>
            </a:extLst>
          </p:cNvPr>
          <p:cNvSpPr txBox="1"/>
          <p:nvPr/>
        </p:nvSpPr>
        <p:spPr>
          <a:xfrm>
            <a:off x="622301" y="5194300"/>
            <a:ext cx="3759200"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All p-values are above 0.05, signaling there is no relationship between pitch usage and Strikeout rates</a:t>
            </a:r>
          </a:p>
          <a:p>
            <a:pPr marL="285750" indent="-285750">
              <a:buFont typeface="Arial" panose="020B0604020202020204" pitchFamily="34" charset="0"/>
              <a:buChar char="•"/>
            </a:pPr>
            <a:r>
              <a:rPr lang="en-US" sz="1400" dirty="0"/>
              <a:t>In addition, pitch usage only accounts for 1% of variation in Strikeout rate</a:t>
            </a:r>
          </a:p>
        </p:txBody>
      </p:sp>
      <p:sp>
        <p:nvSpPr>
          <p:cNvPr id="9" name="TextBox 8">
            <a:extLst>
              <a:ext uri="{FF2B5EF4-FFF2-40B4-BE49-F238E27FC236}">
                <a16:creationId xmlns:a16="http://schemas.microsoft.com/office/drawing/2014/main" id="{E6125B95-E91A-1068-C2AB-67FD5802F112}"/>
              </a:ext>
            </a:extLst>
          </p:cNvPr>
          <p:cNvSpPr txBox="1"/>
          <p:nvPr/>
        </p:nvSpPr>
        <p:spPr>
          <a:xfrm>
            <a:off x="5211235" y="5194300"/>
            <a:ext cx="3856566"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All p-values are above 0.05, signaling there is no relationship between pitch usage and Walk rates</a:t>
            </a:r>
          </a:p>
          <a:p>
            <a:pPr marL="285750" indent="-285750">
              <a:buFont typeface="Arial" panose="020B0604020202020204" pitchFamily="34" charset="0"/>
              <a:buChar char="•"/>
            </a:pPr>
            <a:r>
              <a:rPr lang="en-US" sz="1400" dirty="0"/>
              <a:t>In addition, pitch usage accounts for less than 1% of variation in Walk rate</a:t>
            </a:r>
          </a:p>
        </p:txBody>
      </p:sp>
      <p:pic>
        <p:nvPicPr>
          <p:cNvPr id="11" name="Picture 10">
            <a:extLst>
              <a:ext uri="{FF2B5EF4-FFF2-40B4-BE49-F238E27FC236}">
                <a16:creationId xmlns:a16="http://schemas.microsoft.com/office/drawing/2014/main" id="{9373D46F-D80A-6165-5F9A-E6C0C2D4153D}"/>
              </a:ext>
            </a:extLst>
          </p:cNvPr>
          <p:cNvPicPr>
            <a:picLocks noChangeAspect="1"/>
          </p:cNvPicPr>
          <p:nvPr/>
        </p:nvPicPr>
        <p:blipFill>
          <a:blip r:embed="rId2"/>
          <a:stretch>
            <a:fillRect/>
          </a:stretch>
        </p:blipFill>
        <p:spPr>
          <a:xfrm>
            <a:off x="549012" y="1373206"/>
            <a:ext cx="4564045" cy="3677316"/>
          </a:xfrm>
          <a:prstGeom prst="rect">
            <a:avLst/>
          </a:prstGeom>
        </p:spPr>
      </p:pic>
      <p:pic>
        <p:nvPicPr>
          <p:cNvPr id="12" name="Picture 11">
            <a:extLst>
              <a:ext uri="{FF2B5EF4-FFF2-40B4-BE49-F238E27FC236}">
                <a16:creationId xmlns:a16="http://schemas.microsoft.com/office/drawing/2014/main" id="{02E84452-1D8C-5ADE-9D5D-9A39F3905859}"/>
              </a:ext>
            </a:extLst>
          </p:cNvPr>
          <p:cNvPicPr>
            <a:picLocks noChangeAspect="1"/>
          </p:cNvPicPr>
          <p:nvPr/>
        </p:nvPicPr>
        <p:blipFill>
          <a:blip r:embed="rId3"/>
          <a:stretch>
            <a:fillRect/>
          </a:stretch>
        </p:blipFill>
        <p:spPr>
          <a:xfrm>
            <a:off x="5057252" y="1373205"/>
            <a:ext cx="4122068" cy="3748876"/>
          </a:xfrm>
          <a:prstGeom prst="rect">
            <a:avLst/>
          </a:prstGeom>
        </p:spPr>
      </p:pic>
    </p:spTree>
    <p:extLst>
      <p:ext uri="{BB962C8B-B14F-4D97-AF65-F5344CB8AC3E}">
        <p14:creationId xmlns:p14="http://schemas.microsoft.com/office/powerpoint/2010/main" val="27789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70620-0A4B-D35D-D5F7-0627F5CAF364}"/>
              </a:ext>
            </a:extLst>
          </p:cNvPr>
          <p:cNvSpPr>
            <a:spLocks noGrp="1"/>
          </p:cNvSpPr>
          <p:nvPr>
            <p:ph type="title"/>
          </p:nvPr>
        </p:nvSpPr>
        <p:spPr>
          <a:xfrm>
            <a:off x="989768" y="609600"/>
            <a:ext cx="5498361" cy="1320800"/>
          </a:xfrm>
        </p:spPr>
        <p:txBody>
          <a:bodyPr anchor="ctr">
            <a:normAutofit/>
          </a:bodyPr>
          <a:lstStyle/>
          <a:p>
            <a:r>
              <a:rPr lang="en-US" dirty="0"/>
              <a:t>Research Question #3: Ks and BBs Affect on Success</a:t>
            </a:r>
          </a:p>
        </p:txBody>
      </p:sp>
      <p:graphicFrame>
        <p:nvGraphicFramePr>
          <p:cNvPr id="23" name="Content Placeholder 9">
            <a:extLst>
              <a:ext uri="{FF2B5EF4-FFF2-40B4-BE49-F238E27FC236}">
                <a16:creationId xmlns:a16="http://schemas.microsoft.com/office/drawing/2014/main" id="{A8F2460A-BE3B-8672-0855-3156FB203630}"/>
              </a:ext>
            </a:extLst>
          </p:cNvPr>
          <p:cNvGraphicFramePr>
            <a:graphicFrameLocks noGrp="1"/>
          </p:cNvGraphicFramePr>
          <p:nvPr>
            <p:ph idx="1"/>
          </p:nvPr>
        </p:nvGraphicFramePr>
        <p:xfrm>
          <a:off x="989770" y="2160589"/>
          <a:ext cx="5549732"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A2349E28-A3D5-05B4-17EE-0A447282F457}"/>
              </a:ext>
            </a:extLst>
          </p:cNvPr>
          <p:cNvPicPr>
            <a:picLocks noChangeAspect="1"/>
          </p:cNvPicPr>
          <p:nvPr/>
        </p:nvPicPr>
        <p:blipFill>
          <a:blip r:embed="rId7"/>
          <a:srcRect r="4445" b="-2"/>
          <a:stretch>
            <a:fillRect/>
          </a:stretch>
        </p:blipFill>
        <p:spPr>
          <a:xfrm>
            <a:off x="7531482" y="10"/>
            <a:ext cx="4657341" cy="3448414"/>
          </a:xfrm>
          <a:prstGeom prst="rect">
            <a:avLst/>
          </a:prstGeom>
        </p:spPr>
      </p:pic>
      <p:pic>
        <p:nvPicPr>
          <p:cNvPr id="4" name="Content Placeholder 3">
            <a:extLst>
              <a:ext uri="{FF2B5EF4-FFF2-40B4-BE49-F238E27FC236}">
                <a16:creationId xmlns:a16="http://schemas.microsoft.com/office/drawing/2014/main" id="{B7C61EAB-9E4D-5E66-F693-3E359C5F4BCA}"/>
              </a:ext>
            </a:extLst>
          </p:cNvPr>
          <p:cNvPicPr>
            <a:picLocks noChangeAspect="1"/>
          </p:cNvPicPr>
          <p:nvPr/>
        </p:nvPicPr>
        <p:blipFill>
          <a:blip r:embed="rId8"/>
          <a:srcRect r="-3" b="2480"/>
          <a:stretch>
            <a:fillRect/>
          </a:stretch>
        </p:blipFill>
        <p:spPr>
          <a:xfrm>
            <a:off x="7528308" y="3437472"/>
            <a:ext cx="4657341" cy="3428996"/>
          </a:xfrm>
          <a:prstGeom prst="rect">
            <a:avLst/>
          </a:prstGeom>
        </p:spPr>
      </p:pic>
    </p:spTree>
    <p:extLst>
      <p:ext uri="{BB962C8B-B14F-4D97-AF65-F5344CB8AC3E}">
        <p14:creationId xmlns:p14="http://schemas.microsoft.com/office/powerpoint/2010/main" val="1394498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8698-9216-D286-9385-95951A11DB4E}"/>
              </a:ext>
            </a:extLst>
          </p:cNvPr>
          <p:cNvSpPr>
            <a:spLocks noGrp="1"/>
          </p:cNvSpPr>
          <p:nvPr>
            <p:ph type="title"/>
          </p:nvPr>
        </p:nvSpPr>
        <p:spPr>
          <a:xfrm>
            <a:off x="270934" y="267826"/>
            <a:ext cx="9139766" cy="608474"/>
          </a:xfrm>
        </p:spPr>
        <p:txBody>
          <a:bodyPr>
            <a:normAutofit/>
          </a:bodyPr>
          <a:lstStyle/>
          <a:p>
            <a:r>
              <a:rPr lang="en-US" sz="3000" dirty="0"/>
              <a:t>Research Question #3: Ks and BBs Affect on Success</a:t>
            </a:r>
          </a:p>
        </p:txBody>
      </p:sp>
      <p:sp>
        <p:nvSpPr>
          <p:cNvPr id="3" name="Content Placeholder 2">
            <a:extLst>
              <a:ext uri="{FF2B5EF4-FFF2-40B4-BE49-F238E27FC236}">
                <a16:creationId xmlns:a16="http://schemas.microsoft.com/office/drawing/2014/main" id="{7AC8C9F5-D0A7-F34B-B425-72B4A26F6801}"/>
              </a:ext>
            </a:extLst>
          </p:cNvPr>
          <p:cNvSpPr>
            <a:spLocks noGrp="1"/>
          </p:cNvSpPr>
          <p:nvPr>
            <p:ph idx="1"/>
          </p:nvPr>
        </p:nvSpPr>
        <p:spPr>
          <a:xfrm>
            <a:off x="270934" y="1033829"/>
            <a:ext cx="4554233" cy="267818"/>
          </a:xfrm>
        </p:spPr>
        <p:txBody>
          <a:bodyPr>
            <a:normAutofit fontScale="77500" lnSpcReduction="20000"/>
          </a:bodyPr>
          <a:lstStyle/>
          <a:p>
            <a:pPr marL="0" indent="0" algn="ctr">
              <a:buNone/>
            </a:pPr>
            <a:r>
              <a:rPr lang="en-US" b="1" dirty="0"/>
              <a:t>Regression on ERA using K% and BB%</a:t>
            </a:r>
          </a:p>
        </p:txBody>
      </p:sp>
      <p:pic>
        <p:nvPicPr>
          <p:cNvPr id="4" name="Picture 3">
            <a:extLst>
              <a:ext uri="{FF2B5EF4-FFF2-40B4-BE49-F238E27FC236}">
                <a16:creationId xmlns:a16="http://schemas.microsoft.com/office/drawing/2014/main" id="{076596EF-7F56-A0F6-A7A6-A4C83F1E775D}"/>
              </a:ext>
            </a:extLst>
          </p:cNvPr>
          <p:cNvPicPr>
            <a:picLocks noChangeAspect="1"/>
          </p:cNvPicPr>
          <p:nvPr/>
        </p:nvPicPr>
        <p:blipFill>
          <a:blip r:embed="rId2"/>
          <a:stretch>
            <a:fillRect/>
          </a:stretch>
        </p:blipFill>
        <p:spPr>
          <a:xfrm>
            <a:off x="270935" y="1423067"/>
            <a:ext cx="4692636" cy="3517234"/>
          </a:xfrm>
          <a:prstGeom prst="rect">
            <a:avLst/>
          </a:prstGeom>
        </p:spPr>
      </p:pic>
      <p:sp>
        <p:nvSpPr>
          <p:cNvPr id="5" name="Content Placeholder 2">
            <a:extLst>
              <a:ext uri="{FF2B5EF4-FFF2-40B4-BE49-F238E27FC236}">
                <a16:creationId xmlns:a16="http://schemas.microsoft.com/office/drawing/2014/main" id="{6DBE3046-5813-AF18-6628-077D3E5879E2}"/>
              </a:ext>
            </a:extLst>
          </p:cNvPr>
          <p:cNvSpPr txBox="1">
            <a:spLocks/>
          </p:cNvSpPr>
          <p:nvPr/>
        </p:nvSpPr>
        <p:spPr>
          <a:xfrm>
            <a:off x="4819420" y="997720"/>
            <a:ext cx="5094829" cy="26781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dirty="0"/>
              <a:t>Regression on Exit Velocity Allowed using K% and BB%</a:t>
            </a:r>
          </a:p>
        </p:txBody>
      </p:sp>
      <p:pic>
        <p:nvPicPr>
          <p:cNvPr id="7" name="Picture 6">
            <a:extLst>
              <a:ext uri="{FF2B5EF4-FFF2-40B4-BE49-F238E27FC236}">
                <a16:creationId xmlns:a16="http://schemas.microsoft.com/office/drawing/2014/main" id="{8A04F2F6-3B92-C181-2C16-0C92D0A068CE}"/>
              </a:ext>
            </a:extLst>
          </p:cNvPr>
          <p:cNvPicPr>
            <a:picLocks noChangeAspect="1"/>
          </p:cNvPicPr>
          <p:nvPr/>
        </p:nvPicPr>
        <p:blipFill>
          <a:blip r:embed="rId3"/>
          <a:stretch>
            <a:fillRect/>
          </a:stretch>
        </p:blipFill>
        <p:spPr>
          <a:xfrm>
            <a:off x="5236635" y="1362356"/>
            <a:ext cx="4124330" cy="3577945"/>
          </a:xfrm>
          <a:prstGeom prst="rect">
            <a:avLst/>
          </a:prstGeom>
        </p:spPr>
      </p:pic>
      <p:sp>
        <p:nvSpPr>
          <p:cNvPr id="8" name="TextBox 7">
            <a:extLst>
              <a:ext uri="{FF2B5EF4-FFF2-40B4-BE49-F238E27FC236}">
                <a16:creationId xmlns:a16="http://schemas.microsoft.com/office/drawing/2014/main" id="{2296C6BF-0BC1-8005-1F49-DE54D260C3F3}"/>
              </a:ext>
            </a:extLst>
          </p:cNvPr>
          <p:cNvSpPr txBox="1"/>
          <p:nvPr/>
        </p:nvSpPr>
        <p:spPr>
          <a:xfrm>
            <a:off x="622301" y="5194300"/>
            <a:ext cx="3759200"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K% has a significant inverse correlation to ERA (p-value rounded to 0)</a:t>
            </a:r>
          </a:p>
          <a:p>
            <a:pPr marL="285750" indent="-285750">
              <a:buFont typeface="Arial" panose="020B0604020202020204" pitchFamily="34" charset="0"/>
              <a:buChar char="•"/>
            </a:pPr>
            <a:r>
              <a:rPr lang="en-US" sz="1400" dirty="0"/>
              <a:t>BB% has a significant positive correlation to ERA (p-value rounded to 0)</a:t>
            </a:r>
          </a:p>
          <a:p>
            <a:pPr marL="285750" indent="-285750">
              <a:buFont typeface="Arial" panose="020B0604020202020204" pitchFamily="34" charset="0"/>
              <a:buChar char="•"/>
            </a:pPr>
            <a:r>
              <a:rPr lang="en-US" sz="1400" dirty="0"/>
              <a:t>K% and BB% explain about 25.7% of variance in ERAs </a:t>
            </a:r>
          </a:p>
        </p:txBody>
      </p:sp>
      <p:sp>
        <p:nvSpPr>
          <p:cNvPr id="9" name="TextBox 8">
            <a:extLst>
              <a:ext uri="{FF2B5EF4-FFF2-40B4-BE49-F238E27FC236}">
                <a16:creationId xmlns:a16="http://schemas.microsoft.com/office/drawing/2014/main" id="{CA2E0A93-4C0A-5FA3-21C1-EB148F9B9D97}"/>
              </a:ext>
            </a:extLst>
          </p:cNvPr>
          <p:cNvSpPr txBox="1"/>
          <p:nvPr/>
        </p:nvSpPr>
        <p:spPr>
          <a:xfrm>
            <a:off x="5236635" y="5037119"/>
            <a:ext cx="3856566"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K% has a significant inverse correlation to ERA (p-value rounded to 0)</a:t>
            </a:r>
          </a:p>
          <a:p>
            <a:pPr marL="285750" indent="-285750">
              <a:buFont typeface="Arial" panose="020B0604020202020204" pitchFamily="34" charset="0"/>
              <a:buChar char="•"/>
            </a:pPr>
            <a:r>
              <a:rPr lang="en-US" sz="1400" dirty="0"/>
              <a:t>BB% does not have a correlation with Exit Velocity Allowed (p-value rounded to 0.72)</a:t>
            </a:r>
          </a:p>
          <a:p>
            <a:pPr marL="285750" indent="-285750">
              <a:buFont typeface="Arial" panose="020B0604020202020204" pitchFamily="34" charset="0"/>
              <a:buChar char="•"/>
            </a:pPr>
            <a:r>
              <a:rPr lang="en-US" sz="1400" dirty="0"/>
              <a:t>K% and BB% explain only about 2% of variation in Average Exit Velocity Allowed</a:t>
            </a:r>
          </a:p>
        </p:txBody>
      </p:sp>
    </p:spTree>
    <p:extLst>
      <p:ext uri="{BB962C8B-B14F-4D97-AF65-F5344CB8AC3E}">
        <p14:creationId xmlns:p14="http://schemas.microsoft.com/office/powerpoint/2010/main" val="3604425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ECAD-C6A1-7F38-B23A-E603F7145BB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6413424-B8D9-1888-3AC5-1E91654AA3FE}"/>
              </a:ext>
            </a:extLst>
          </p:cNvPr>
          <p:cNvSpPr>
            <a:spLocks noGrp="1"/>
          </p:cNvSpPr>
          <p:nvPr>
            <p:ph idx="1"/>
          </p:nvPr>
        </p:nvSpPr>
        <p:spPr>
          <a:xfrm>
            <a:off x="677334" y="1488613"/>
            <a:ext cx="9050866" cy="5140787"/>
          </a:xfrm>
        </p:spPr>
        <p:txBody>
          <a:bodyPr>
            <a:normAutofit fontScale="47500" lnSpcReduction="20000"/>
          </a:bodyPr>
          <a:lstStyle/>
          <a:p>
            <a:r>
              <a:rPr lang="en-US" sz="3300" b="1" dirty="0"/>
              <a:t>Research Question #1: How did pitch mixes affect pitcher success on average in 2025?</a:t>
            </a:r>
          </a:p>
          <a:p>
            <a:pPr lvl="1"/>
            <a:r>
              <a:rPr lang="en-US" sz="3300" dirty="0"/>
              <a:t>Less use of offspeed pitches resulted in lower pitcher ERAs. This may be due to more dominant fastballs or offspeed pitches, which move more and have been described by hitters as harder to hit when quality.</a:t>
            </a:r>
          </a:p>
          <a:p>
            <a:r>
              <a:rPr lang="en-US" sz="3300" b="1" dirty="0"/>
              <a:t>Research Question #2: Which pitch mixes create the highest strikeout and walk outputs?</a:t>
            </a:r>
          </a:p>
          <a:p>
            <a:pPr lvl="1"/>
            <a:r>
              <a:rPr lang="en-US" sz="3300" dirty="0"/>
              <a:t>Although there are some outliers, there is not a statistically significant difference in the usage of different pitch types and the corresponding strikeout and walk rates</a:t>
            </a:r>
          </a:p>
          <a:p>
            <a:r>
              <a:rPr lang="en-US" sz="3300" b="1" dirty="0"/>
              <a:t>Research Question #3: How much of an effect do strikeouts and walks have on a pitcher’s overall success?</a:t>
            </a:r>
          </a:p>
          <a:p>
            <a:pPr lvl="1"/>
            <a:r>
              <a:rPr lang="en-US" sz="3300" dirty="0"/>
              <a:t>Both high strikeout rates and lower walk rates work lead to lower ERAs, making up about 25% of the variation in ERAs among pitchers</a:t>
            </a:r>
          </a:p>
          <a:p>
            <a:pPr lvl="1"/>
            <a:r>
              <a:rPr lang="en-US" sz="3300" dirty="0"/>
              <a:t>Higher Strikeout Rates lead to lower batter exit velocities. If it is harder to make contact, it should be harder for a batter to make hard contact.</a:t>
            </a:r>
          </a:p>
          <a:p>
            <a:pPr lvl="1"/>
            <a:r>
              <a:rPr lang="en-US" sz="3300" dirty="0"/>
              <a:t>Walk rates do not have a statistically significant effect on batter exit velocities. Wild pitchers are not necessarily harder to make harder contact off of when they do throw strikes </a:t>
            </a:r>
          </a:p>
          <a:p>
            <a:endParaRPr lang="en-US" dirty="0"/>
          </a:p>
        </p:txBody>
      </p:sp>
    </p:spTree>
    <p:extLst>
      <p:ext uri="{BB962C8B-B14F-4D97-AF65-F5344CB8AC3E}">
        <p14:creationId xmlns:p14="http://schemas.microsoft.com/office/powerpoint/2010/main" val="76935904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182</TotalTime>
  <Words>977</Words>
  <Application>Microsoft Macintosh PowerPoint</Application>
  <PresentationFormat>Widescreen</PresentationFormat>
  <Paragraphs>84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2025 MLB Pitch Usage Vs. Success </vt:lpstr>
      <vt:lpstr>Data Source</vt:lpstr>
      <vt:lpstr>Description of Original Data</vt:lpstr>
      <vt:lpstr>Breakdown of Classifications</vt:lpstr>
      <vt:lpstr>Research Questions</vt:lpstr>
      <vt:lpstr>Research Question #1: Pitch Mix Vs. Success</vt:lpstr>
      <vt:lpstr>Research Question #1: Pitch Mix Vs. Success</vt:lpstr>
      <vt:lpstr>PowerPoint Presentation</vt:lpstr>
      <vt:lpstr>Research Question #2: Pitch Types Relationship with Ks and BBs</vt:lpstr>
      <vt:lpstr>Research Question #3: Ks and BBs Affect on Success</vt:lpstr>
      <vt:lpstr>Research Question #3: Ks and BBs Affect on Success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Schrader,Luke</dc:creator>
  <cp:lastModifiedBy>Schrader,Luke</cp:lastModifiedBy>
  <cp:revision>3</cp:revision>
  <dcterms:created xsi:type="dcterms:W3CDTF">2026-03-16T14:21:25Z</dcterms:created>
  <dcterms:modified xsi:type="dcterms:W3CDTF">2026-03-17T17:03:22Z</dcterms:modified>
</cp:coreProperties>
</file>